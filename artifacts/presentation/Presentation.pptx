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def3d628524102" /><Relationship Type="http://schemas.openxmlformats.org/officeDocument/2006/relationships/extended-properties" Target="/docProps/app.xml" Id="R5268b5e1f81a4068" /><Relationship Type="http://schemas.openxmlformats.org/officeDocument/2006/relationships/officeDocument" Target="/ppt/presentation.xml" Id="Rce82c50655a143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855f23126643f0"/>
  </p:sldMasterIdLst>
  <p:notesMasterIdLst>
    <p:notesMasterId xmlns:r="http://schemas.openxmlformats.org/officeDocument/2006/relationships" r:id="R6dffc6a71ba641e5"/>
  </p:notesMasterIdLst>
  <p:sldIdLst>
    <p:sldId xmlns:r="http://schemas.openxmlformats.org/officeDocument/2006/relationships" id="256" r:id="R6b59b217a76a4a4b"/>
    <p:sldId xmlns:r="http://schemas.openxmlformats.org/officeDocument/2006/relationships" id="257" r:id="R80d1108657b04df6"/>
    <p:sldId xmlns:r="http://schemas.openxmlformats.org/officeDocument/2006/relationships" id="258" r:id="R2f61f0a200c14ed3"/>
    <p:sldId xmlns:r="http://schemas.openxmlformats.org/officeDocument/2006/relationships" id="259" r:id="Rab5a167c3a6f4b11"/>
    <p:sldId xmlns:r="http://schemas.openxmlformats.org/officeDocument/2006/relationships" id="260" r:id="Re41462203bfa4811"/>
    <p:sldId xmlns:r="http://schemas.openxmlformats.org/officeDocument/2006/relationships" id="261" r:id="R72b7976f678645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de6033875a4693" /><Relationship Type="http://schemas.openxmlformats.org/officeDocument/2006/relationships/slideMaster" Target="/ppt/slideMasters/slideMaster1.xml" Id="Rd1855f23126643f0" /><Relationship Type="http://schemas.openxmlformats.org/officeDocument/2006/relationships/notesMaster" Target="/ppt/notesMasters/notesMaster1.xml" Id="R6dffc6a71ba641e5" /><Relationship Type="http://schemas.openxmlformats.org/officeDocument/2006/relationships/presProps" Target="/ppt/presProps.xml" Id="Red24728a10904f2a" /><Relationship Type="http://schemas.openxmlformats.org/officeDocument/2006/relationships/tableStyles" Target="/ppt/tableStyles.xml" Id="Rda3abcfe736142d8" /><Relationship Type="http://schemas.openxmlformats.org/officeDocument/2006/relationships/slide" Target="/ppt/slides/slide1.xml" Id="R6b59b217a76a4a4b" /><Relationship Type="http://schemas.openxmlformats.org/officeDocument/2006/relationships/slide" Target="/ppt/slides/slide2.xml" Id="R80d1108657b04df6" /><Relationship Type="http://schemas.openxmlformats.org/officeDocument/2006/relationships/slide" Target="/ppt/slides/slide3.xml" Id="R2f61f0a200c14ed3" /><Relationship Type="http://schemas.openxmlformats.org/officeDocument/2006/relationships/slide" Target="/ppt/slides/slide4.xml" Id="Rab5a167c3a6f4b11" /><Relationship Type="http://schemas.openxmlformats.org/officeDocument/2006/relationships/slide" Target="/ppt/slides/slide5.xml" Id="Re41462203bfa4811" /><Relationship Type="http://schemas.openxmlformats.org/officeDocument/2006/relationships/slide" Target="/ppt/slides/slide6.xml" Id="R72b7976f678645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b01d2ad6ce4e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f2ad352c2045e3" /><Relationship Type="http://schemas.openxmlformats.org/officeDocument/2006/relationships/notesMaster" Target="/ppt/notesMasters/notesMaster1.xml" Id="Rf0782161f3a944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c62280af3a4a7a" /><Relationship Type="http://schemas.openxmlformats.org/officeDocument/2006/relationships/notesMaster" Target="/ppt/notesMasters/notesMaster1.xml" Id="R26fb4246afd44c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27ac9e21034aba" /><Relationship Type="http://schemas.openxmlformats.org/officeDocument/2006/relationships/notesMaster" Target="/ppt/notesMasters/notesMaster1.xml" Id="Raf159da6b4c74d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4445dae6a44828" /><Relationship Type="http://schemas.openxmlformats.org/officeDocument/2006/relationships/notesMaster" Target="/ppt/notesMasters/notesMaster1.xml" Id="Re02e1c9da79146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3b6a5c8dd2434c" /><Relationship Type="http://schemas.openxmlformats.org/officeDocument/2006/relationships/notesMaster" Target="/ppt/notesMasters/notesMaster1.xml" Id="Rbe723c1b456544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43342c96f042d0" /><Relationship Type="http://schemas.openxmlformats.org/officeDocument/2006/relationships/notesMaster" Target="/ppt/notesMasters/notesMaster1.xml" Id="R4ffca2da58d145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docs/srs/SRS.md; submission/manifest.md. Working-tree review candidate, not a final submission. AI-assisted content requires the group to review and declare it. Planned speaker: MEMBER_A.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docs/srs/SRS.md FR-03, FR-09; docs/manuals/User_Manual.md §§3–4; media/demo/demo-expected-output.txt. Speaker: MEMBER_A.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docs/srs/SRS.md FR-26, FR-28, FR-29, FR-31, FR-33, FR-34, FR-36; docs/manuals/User_Manual.md §5; current src/model/search.py. Speaker: MEMBER_B.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docs/srs/SRS.md FR-27 and FR-39; media/demo/demo-expected-output.txt; docs/manuals/User_Manual.md §8. Speaker: MEMBER_C.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docs/design/Design_Document.md §§2–3 and its architecture diagram; current src/main.py, src/controller/cli.py, src/model, src/storage/pim_file.py. Speaker: MEMBER_D. Layered design with MVC-style separation: controller uses manager and storage; manager owns four immutable record classes and calls Criterion.matches. Type/Text/Time criteria are leaves; And/Or/Not compose them. Model has no I/O. This keeps rules independently testable.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docs/reports/integration-test-log.md, docs/reports/independent-review-2026-10-23.md, docs/reports/independent-model-coverage-2026-10-23-python313.txt and Test_Coverage.md. Speaker: MEMBER_D. 2026-10-23: 51 tests passed on Python 3.11.9, 3.12.3 and 3.13.5. Coverage is from Python 3.13.5. See docs/reports/independent-model-coverage-2026-10-23-python313.txt. Development and revision were AI-assisted; the group must review and acknowledge this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149e4d696448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3d8fd1351d4024" /><Relationship Type="http://schemas.openxmlformats.org/officeDocument/2006/relationships/slideLayout" Target="/ppt/slideLayouts/slideLayout1.xml" Id="Reb8a3855048742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8a3855048742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bf26d84864ca2" /><Relationship Type="http://schemas.openxmlformats.org/officeDocument/2006/relationships/notesSlide" Target="/ppt/notesSlides/notesSlide1.xml" Id="R92a0b5b02cde40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59349241146c6" /><Relationship Type="http://schemas.openxmlformats.org/officeDocument/2006/relationships/notesSlide" Target="/ppt/notesSlides/notesSlide2.xml" Id="R286c0c7cc3a246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b93ae66e14203" /><Relationship Type="http://schemas.openxmlformats.org/officeDocument/2006/relationships/notesSlide" Target="/ppt/notesSlides/notesSlide3.xml" Id="R09ea1eaf68f643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dfddc830244bc" /><Relationship Type="http://schemas.openxmlformats.org/officeDocument/2006/relationships/notesSlide" Target="/ppt/notesSlides/notesSlide4.xml" Id="R8c4554aa60b348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d4f073d684c83" /><Relationship Type="http://schemas.openxmlformats.org/officeDocument/2006/relationships/image" Target="/ppt/media/image.png" Id="Rd5cf232b0f4047df" /><Relationship Type="http://schemas.openxmlformats.org/officeDocument/2006/relationships/notesSlide" Target="/ppt/notesSlides/notesSlide5.xml" Id="Rc2bbdef810e64d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43538051f447a" /><Relationship Type="http://schemas.openxmlformats.org/officeDocument/2006/relationships/notesSlide" Target="/ppt/notesSlides/notesSlide6.xml" Id="Rb37a2c12c77e41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7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7C9B6-637B-4087-9D7A-869C9692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1019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Personal Information</a:t>
            </a:r>
          </a:p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8BEF9-9FC0-43C6-BF19-213D805E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DDEAF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DEAF1"/>
                </a:solidFill>
                <a:latin typeface="Arial"/>
                <a:ea typeface="Arial"/>
                <a:cs typeface="Arial"/>
              </a:rPr>
              <a:t>A local command-line PIM for notes, tasks, events and contacts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636F1-CDED-4296-95F6-7597DED4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721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COMP3211  ·  Group 89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44E14-CDEA-4140-8486-F870D76A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483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B9CB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BD7"/>
                </a:solidFill>
                <a:latin typeface="Arial"/>
                <a:ea typeface="Arial"/>
                <a:cs typeface="Arial"/>
              </a:rPr>
              <a:t>Review candidate  ·  23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653932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554C6-CDE5-4680-811B-DBFD01A5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73E"/>
                </a:solidFill>
                <a:latin typeface="Arial"/>
                <a:ea typeface="Arial"/>
                <a:cs typeface="Arial"/>
              </a:rPr>
              <a:t>Creating a PIR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C0A09-1EB3-4D04-BF8A-6C478156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02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E73E4-E7E8-4480-9108-5D03B002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382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6B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98"/>
                </a:solidFill>
                <a:latin typeface="Arial"/>
                <a:ea typeface="Arial"/>
                <a:cs typeface="Arial"/>
              </a:rPr>
              <a:t>FR-03  /  Task fields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AB0F6-7A45-4843-9737-0572636F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478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E"/>
                </a:solidFill>
                <a:latin typeface="Arial"/>
                <a:ea typeface="Arial"/>
                <a:cs typeface="Arial"/>
              </a:rPr>
              <a:t>A task needs a description and a local deadline.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3845C-9363-4AC8-81BA-9B1668F7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3367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6B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98"/>
                </a:solidFill>
                <a:latin typeface="Arial"/>
                <a:ea typeface="Arial"/>
                <a:cs typeface="Arial"/>
              </a:rPr>
              <a:t>COMMAND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54A11-E970-444E-83A6-06CF621A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337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73E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14273E"/>
                </a:solidFill>
                <a:latin typeface="Consolas"/>
                <a:ea typeface="Consolas"/>
                <a:cs typeface="Consolas"/>
              </a:rPr>
              <a:t>add task "draft" "2026-10-01 09:00"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3C319-9240-41AA-9D34-2C928A38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6B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98"/>
                </a:solidFill>
                <a:latin typeface="Arial"/>
                <a:ea typeface="Arial"/>
                <a:cs typeface="Arial"/>
              </a:rPr>
              <a:t>OBSERVED CLI OUTPUT (AFTER CREATING NOTE 1)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B98A02-8F8D-4430-A0C8-8BEC401D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62475"/>
            <a:ext cx="108108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73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4273E"/>
                </a:solidFill>
                <a:latin typeface="Consolas"/>
                <a:ea typeface="Consolas"/>
                <a:cs typeface="Consolas"/>
              </a:rPr>
              <a:t>Created task 2</a:t>
            </a:r>
          </a:p>
          <a:p xmlns:a="http://schemas.openxmlformats.org/drawingml/2006/main">
            <a:pPr>
              <a:buNone/>
              <a:defRPr sz="1800" b="0">
                <a:solidFill>
                  <a:srgbClr val="14273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4273E"/>
                </a:solidFill>
                <a:latin typeface="Consolas"/>
                <a:ea typeface="Consolas"/>
                <a:cs typeface="Consolas"/>
              </a:rPr>
              <a:t>id: 2</a:t>
            </a:r>
          </a:p>
          <a:p xmlns:a="http://schemas.openxmlformats.org/drawingml/2006/main">
            <a:pPr>
              <a:buNone/>
              <a:defRPr sz="1800" b="0">
                <a:solidFill>
                  <a:srgbClr val="14273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4273E"/>
                </a:solidFill>
                <a:latin typeface="Consolas"/>
                <a:ea typeface="Consolas"/>
                <a:cs typeface="Consolas"/>
              </a:rPr>
              <a:t>type: task</a:t>
            </a:r>
          </a:p>
          <a:p xmlns:a="http://schemas.openxmlformats.org/drawingml/2006/main">
            <a:pPr>
              <a:buNone/>
              <a:defRPr sz="1800" b="0">
                <a:solidFill>
                  <a:srgbClr val="14273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4273E"/>
                </a:solidFill>
                <a:latin typeface="Consolas"/>
                <a:ea typeface="Consolas"/>
                <a:cs typeface="Consolas"/>
              </a:rPr>
              <a:t>description: draft</a:t>
            </a:r>
          </a:p>
          <a:p xmlns:a="http://schemas.openxmlformats.org/drawingml/2006/main">
            <a:pPr>
              <a:buNone/>
              <a:defRPr sz="1800" b="0">
                <a:solidFill>
                  <a:srgbClr val="14273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4273E"/>
                </a:solidFill>
                <a:latin typeface="Consolas"/>
                <a:ea typeface="Consolas"/>
                <a:cs typeface="Consolas"/>
              </a:rPr>
              <a:t>deadline: 2026-10-01 09:00</a:t>
            </a:r>
          </a:p>
        </p:txBody>
      </p:sp>
    </p:spTree>
    <p:extLst>
      <p:ext uri="{BB962C8B-B14F-4D97-AF65-F5344CB8AC3E}">
        <p14:creationId xmlns:p14="http://schemas.microsoft.com/office/powerpoint/2010/main" val="2209335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C324A-FA2C-46B2-AA95-16803000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73E"/>
                </a:solidFill>
                <a:latin typeface="Arial"/>
                <a:ea typeface="Arial"/>
                <a:cs typeface="Arial"/>
              </a:rPr>
              <a:t>Defining a search criterion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A3CFE-BA16-4DFC-B6EE-DFBDE8FD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03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D5AB5-D5BC-4100-B2E2-9C19CB4E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192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6B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98"/>
                </a:solidFill>
                <a:latin typeface="Arial"/>
                <a:ea typeface="Arial"/>
                <a:cs typeface="Arial"/>
              </a:rPr>
              <a:t>FR-26  /  One search command defines and runs the criterion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9C131-A327-41FA-996D-76577166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73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4273E"/>
                </a:solidFill>
                <a:latin typeface="Consolas"/>
                <a:ea typeface="Consolas"/>
                <a:cs typeface="Consolas"/>
              </a:rPr>
              <a:t>search (type = "task" &amp;&amp; deadline &lt; "2026-10-02 00:00")</a:t>
            </a:r>
          </a:p>
          <a:p xmlns:a="http://schemas.openxmlformats.org/drawingml/2006/main">
            <a:pPr>
              <a:buNone/>
              <a:defRPr sz="1800" b="0">
                <a:solidFill>
                  <a:srgbClr val="14273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4273E"/>
                </a:solidFill>
                <a:latin typeface="Consolas"/>
                <a:ea typeface="Consolas"/>
                <a:cs typeface="Consolas"/>
              </a:rPr>
              <a:t>       || text contains "memo"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25033-F8B7-4D77-9AEC-A8D66BA8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73E"/>
                </a:solidFill>
                <a:latin typeface="Arial"/>
                <a:ea typeface="Arial"/>
                <a:cs typeface="Arial"/>
              </a:rPr>
              <a:t>Parentheses group the task and deadline test.</a:t>
            </a:r>
          </a:p>
          <a:p xmlns:a="http://schemas.openxmlformats.org/drawingml/2006/main">
            <a:pPr>
              <a:buNone/>
              <a:defRPr sz="2025" b="0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73E"/>
                </a:solidFill>
                <a:latin typeface="Arial"/>
                <a:ea typeface="Arial"/>
                <a:cs typeface="Arial"/>
              </a:rPr>
              <a:t>&amp;&amp; requires both conditions; || accepts either branch.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2E268-B43F-4091-BCEA-BDEF9505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24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Quoted literals are required. The parser builds criterion objects; it does not run Python input.</a:t>
            </a:r>
          </a:p>
        </p:txBody>
      </p:sp>
    </p:spTree>
    <p:extLst>
      <p:ext uri="{BB962C8B-B14F-4D97-AF65-F5344CB8AC3E}">
        <p14:creationId xmlns:p14="http://schemas.microsoft.com/office/powerpoint/2010/main" val="1259397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37CA9-CDC1-4EB1-8E40-34716F67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73E"/>
                </a:solidFill>
                <a:latin typeface="Arial"/>
                <a:ea typeface="Arial"/>
                <a:cs typeface="Arial"/>
              </a:rPr>
              <a:t>Searching for PIRs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929AA-950C-4212-9008-F1666F81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04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2D874-EFD4-4289-B07E-5EF7C5C9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0017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6B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98"/>
                </a:solidFill>
                <a:latin typeface="Arial"/>
                <a:ea typeface="Arial"/>
                <a:cs typeface="Arial"/>
              </a:rPr>
              <a:t>FR-27  /  Evaluate against the current collection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2539D-A775-450F-BF01-EF7C1BFA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2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73E"/>
                </a:solidFill>
                <a:latin typeface="Arial"/>
                <a:ea typeface="Arial"/>
                <a:cs typeface="Arial"/>
              </a:rPr>
              <a:t>The compound criterion matches two of the four records: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40B1A-AA4F-458A-AAB7-CB0D7843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9477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73E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4273E"/>
                </a:solidFill>
                <a:latin typeface="Consolas"/>
                <a:ea typeface="Consolas"/>
                <a:cs typeface="Consolas"/>
              </a:rPr>
              <a:t>1  |  note  |  memo</a:t>
            </a:r>
          </a:p>
          <a:p xmlns:a="http://schemas.openxmlformats.org/drawingml/2006/main">
            <a:pPr>
              <a:buNone/>
              <a:defRPr sz="2400" b="0">
                <a:solidFill>
                  <a:srgbClr val="14273E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4273E"/>
                </a:solidFill>
                <a:latin typeface="Consolas"/>
                <a:ea typeface="Consolas"/>
                <a:cs typeface="Consolas"/>
              </a:rPr>
              <a:t>2  |  task  |  draft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AC5C7-97FC-4D0F-97BE-FF57F761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6B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98"/>
                </a:solidFill>
                <a:latin typeface="Arial"/>
                <a:ea typeface="Arial"/>
                <a:cs typeface="Arial"/>
              </a:rPr>
              <a:t>FR-39  /  Results appear in increasing ID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2E9A4-5760-46EA-AC6F-F83D0E11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815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73E"/>
                </a:solidFill>
                <a:latin typeface="Arial"/>
                <a:ea typeface="Arial"/>
                <a:cs typeface="Arial"/>
              </a:rPr>
              <a:t>After updating task 2 and deleting note 1, a saved snapshot restores three records. The next new note receives ID 5.</a:t>
            </a:r>
          </a:p>
        </p:txBody>
      </p:sp>
    </p:spTree>
    <p:extLst>
      <p:ext uri="{BB962C8B-B14F-4D97-AF65-F5344CB8AC3E}">
        <p14:creationId xmlns:p14="http://schemas.microsoft.com/office/powerpoint/2010/main" val="668544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C840C-20E1-406B-93BC-D02B272D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73E"/>
                </a:solidFill>
                <a:latin typeface="Arial"/>
                <a:ea typeface="Arial"/>
                <a:cs typeface="Arial"/>
              </a:rPr>
              <a:t>Layered design and component relationships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44750-236E-4B84-8081-BA6537F8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05  /  06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01DD0-DEA9-4F76-900A-CE59D432E8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f232b0f4047df"/>
          <a:stretch xmlns:a="http://schemas.openxmlformats.org/drawingml/2006/main"/>
        </p:blipFill>
        <p:spPr>
          <a:xfrm xmlns:a="http://schemas.openxmlformats.org/drawingml/2006/main">
            <a:off x="905571" y="1362075"/>
            <a:ext cx="3037083" cy="4686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7BE06-C819-44B1-9ABD-97A4EA89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621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6B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98"/>
                </a:solidFill>
                <a:latin typeface="Arial"/>
                <a:ea typeface="Arial"/>
                <a:cs typeface="Arial"/>
              </a:rPr>
              <a:t>CommandController: terminal view +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AF068-E372-417A-A6D3-FFE43547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/>
            </a:defPPr>
            <a:lvl1pPr>
              <a:defRPr sz="1725"/>
            </a:lvl1pPr>
            <a:lvl2pPr>
              <a:defRPr sz="1725"/>
            </a:lvl2pPr>
            <a:lvl3pPr>
              <a:defRPr sz="1725"/>
            </a:lvl3pPr>
            <a:lvl4pPr>
              <a:defRPr sz="1725"/>
            </a:lvl4pPr>
            <a:lvl5pPr>
              <a:defRPr sz="1725"/>
            </a:lvl5pPr>
            <a:lvl6pPr>
              <a:defRPr sz="1725"/>
            </a:lvl6pPr>
            <a:lvl7pPr>
              <a:defRPr sz="1725"/>
            </a:lvl7pPr>
            <a:lvl8pPr>
              <a:defRPr sz="1725"/>
            </a:lvl8pPr>
            <a:lvl9pPr>
              <a:defRPr sz="1725"/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E"/>
                </a:solidFill>
                <a:latin typeface="Arial"/>
                <a:ea typeface="Arial"/>
                <a:cs typeface="Arial"/>
              </a:rPr>
              <a:t>Calls the model for CRUD/search and storage for 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646E8-40B7-475A-824E-3C5FD0A6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241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6B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98"/>
                </a:solidFill>
                <a:latin typeface="Arial"/>
                <a:ea typeface="Arial"/>
                <a:cs typeface="Arial"/>
              </a:rPr>
              <a:t>PIMManager owns immutable record objects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7F146-178B-4D35-AF10-135CC07D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05150"/>
            <a:ext cx="652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/>
            </a:defPPr>
            <a:lvl1pPr>
              <a:defRPr sz="1725"/>
            </a:lvl1pPr>
            <a:lvl2pPr>
              <a:defRPr sz="1725"/>
            </a:lvl2pPr>
            <a:lvl3pPr>
              <a:defRPr sz="1725"/>
            </a:lvl3pPr>
            <a:lvl4pPr>
              <a:defRPr sz="1725"/>
            </a:lvl4pPr>
            <a:lvl5pPr>
              <a:defRPr sz="1725"/>
            </a:lvl5pPr>
            <a:lvl6pPr>
              <a:defRPr sz="1725"/>
            </a:lvl6pPr>
            <a:lvl7pPr>
              <a:defRPr sz="1725"/>
            </a:lvl7pPr>
            <a:lvl8pPr>
              <a:defRPr sz="1725"/>
            </a:lvl8pPr>
            <a:lvl9pPr>
              <a:defRPr sz="1725"/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E"/>
                </a:solidFill>
                <a:latin typeface="Arial"/>
                <a:ea typeface="Arial"/>
                <a:cs typeface="Arial"/>
              </a:rPr>
              <a:t>Note, Task, Event and Contact. Search delegates to Criterion.matches(record).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10B9B-A6D7-4ED3-98FE-9452C31D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814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6B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98"/>
                </a:solidFill>
                <a:latin typeface="Arial"/>
                <a:ea typeface="Arial"/>
                <a:cs typeface="Arial"/>
              </a:rPr>
              <a:t>storage.pim_file: persistence adapter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0BA97-3B6A-4A3C-A708-77365391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72000"/>
            <a:ext cx="655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/>
            </a:defPPr>
            <a:lvl1pPr>
              <a:defRPr sz="1725"/>
            </a:lvl1pPr>
            <a:lvl2pPr>
              <a:defRPr sz="1725"/>
            </a:lvl2pPr>
            <a:lvl3pPr>
              <a:defRPr sz="1725"/>
            </a:lvl3pPr>
            <a:lvl4pPr>
              <a:defRPr sz="1725"/>
            </a:lvl4pPr>
            <a:lvl5pPr>
              <a:defRPr sz="1725"/>
            </a:lvl5pPr>
            <a:lvl6pPr>
              <a:defRPr sz="1725"/>
            </a:lvl6pPr>
            <a:lvl7pPr>
              <a:defRPr sz="1725"/>
            </a:lvl7pPr>
            <a:lvl8pPr>
              <a:defRPr sz="1725"/>
            </a:lvl8pPr>
            <a:lvl9pPr>
              <a:defRPr sz="1725"/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E"/>
                </a:solidFill>
                <a:latin typeface="Arial"/>
                <a:ea typeface="Arial"/>
                <a:cs typeface="Arial"/>
              </a:rPr>
              <a:t>Saves versioned JSON; loads a validated replacement manager.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31CF7-55D5-4A68-A1DB-21EBF832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4864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MVC-style separation keeps model tests independent of terminal and file I/O.</a:t>
            </a:r>
          </a:p>
        </p:txBody>
      </p:sp>
    </p:spTree>
    <p:extLst>
      <p:ext uri="{BB962C8B-B14F-4D97-AF65-F5344CB8AC3E}">
        <p14:creationId xmlns:p14="http://schemas.microsoft.com/office/powerpoint/2010/main" val="2839416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BCFFC-CF7F-482A-A4C6-3CB51EA8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73E"/>
                </a:solidFill>
                <a:latin typeface="Arial"/>
                <a:ea typeface="Arial"/>
                <a:cs typeface="Arial"/>
              </a:rPr>
              <a:t>Lesson from unit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CEBB6-E538-4CDF-B5D8-861F87F2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229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06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50273-5F34-4647-89C0-48EF1BCA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6B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98"/>
                </a:solidFill>
                <a:latin typeface="Arial"/>
                <a:ea typeface="Arial"/>
                <a:cs typeface="Arial"/>
              </a:rPr>
              <a:t>FINDING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03274-29BB-4D48-A8A6-7809BCCD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383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73E"/>
                </a:solidFill>
                <a:latin typeface="Arial"/>
                <a:ea typeface="Arial"/>
                <a:cs typeface="Arial"/>
              </a:rPr>
              <a:t>Deep valid search expressions exceeded Python's recursion limit.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9B7BE-6E2E-4CBF-A511-D0C310A3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6B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98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43201-9D54-46BB-998D-7DCF1B5B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73E"/>
                </a:solidFill>
                <a:latin typeface="Arial"/>
                <a:ea typeface="Arial"/>
                <a:cs typeface="Arial"/>
              </a:rPr>
              <a:t>Regression tests led to iterative parsing and evaluation.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19A8F-F8AE-44FC-A59C-A118403C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4340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76B9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98"/>
                </a:solidFill>
                <a:latin typeface="Arial"/>
                <a:ea typeface="Arial"/>
                <a:cs typeface="Arial"/>
              </a:rPr>
              <a:t>VERIFIED 23 OCTOBER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E52B1-4B47-4DCD-98AA-9B282EA6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2440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427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73E"/>
                </a:solidFill>
                <a:latin typeface="Arial"/>
                <a:ea typeface="Arial"/>
                <a:cs typeface="Arial"/>
              </a:rPr>
              <a:t>51 tests passed  ·  416/421 model source lines  ·  98.81%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F6526-6B30-486C-801D-7806B992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816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0657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574"/>
                </a:solidFill>
                <a:latin typeface="Arial"/>
                <a:ea typeface="Arial"/>
                <a:cs typeface="Arial"/>
              </a:rPr>
              <a:t>Python 3.11.9 / 3.12.3 / 3.13.5; source-line trace excludes 0/None.</a:t>
            </a:r>
          </a:p>
        </p:txBody>
      </p:sp>
    </p:spTree>
    <p:extLst>
      <p:ext uri="{BB962C8B-B14F-4D97-AF65-F5344CB8AC3E}">
        <p14:creationId xmlns:p14="http://schemas.microsoft.com/office/powerpoint/2010/main" val="1964332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2026-10-23T03:19:34.3310000Z</dcterms:created>
  <dcterms:modified xsi:type="dcterms:W3CDTF">2026-10-23T03:19:34.3310000Z</dcterms:modified>
</coreProperties>
</file>